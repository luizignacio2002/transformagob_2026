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0FjFKoiKf+ApcuyJTwc27xQ+B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customschemas.google.com/relationships/presentationmetadata" Target="metadata"/><Relationship Id="rId16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bb5e97f29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ebb5e97f29_8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d769d63d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ed769d63d2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bb5e97f29_9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ebb5e97f29_9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bb5e97f29_9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ebb5e97f29_9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656671" y="361175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A3E"/>
              </a:buClr>
              <a:buSzPts val="2400"/>
              <a:buNone/>
            </a:pPr>
            <a:r>
              <a:rPr b="1" lang="es-PE">
                <a:solidFill>
                  <a:srgbClr val="0A1A3E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Desafío 14° -</a:t>
            </a:r>
            <a:r>
              <a:rPr b="1" lang="es-PE">
                <a:solidFill>
                  <a:srgbClr val="0A1A3E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 INEN</a:t>
            </a:r>
            <a:endParaRPr b="1">
              <a:solidFill>
                <a:srgbClr val="0A1A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A3E"/>
              </a:buClr>
              <a:buSzPts val="2400"/>
              <a:buNone/>
            </a:pPr>
            <a:r>
              <a:t/>
            </a:r>
            <a:endParaRPr sz="1600">
              <a:solidFill>
                <a:srgbClr val="0A1A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A3E"/>
              </a:buClr>
              <a:buSzPts val="2400"/>
              <a:buNone/>
            </a:pPr>
            <a:r>
              <a:rPr b="1" lang="es-PE" sz="1600">
                <a:solidFill>
                  <a:srgbClr val="0A1A3E"/>
                </a:solidFill>
                <a:latin typeface="Roboto"/>
                <a:ea typeface="Roboto"/>
                <a:cs typeface="Roboto"/>
                <a:sym typeface="Roboto"/>
              </a:rPr>
              <a:t>AtuncitoRevenge:</a:t>
            </a:r>
            <a:endParaRPr b="1" sz="1600">
              <a:solidFill>
                <a:srgbClr val="0A1A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A3E"/>
              </a:buClr>
              <a:buSzPts val="1600"/>
              <a:buFont typeface="Roboto"/>
              <a:buChar char="-"/>
            </a:pPr>
            <a:r>
              <a:rPr b="1" lang="es-PE" sz="1600">
                <a:solidFill>
                  <a:srgbClr val="0A1A3E"/>
                </a:solidFill>
                <a:latin typeface="Roboto"/>
                <a:ea typeface="Roboto"/>
                <a:cs typeface="Roboto"/>
                <a:sym typeface="Roboto"/>
              </a:rPr>
              <a:t>Luiz Quineche</a:t>
            </a:r>
            <a:endParaRPr b="1" sz="1600">
              <a:solidFill>
                <a:srgbClr val="0A1A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A3E"/>
              </a:buClr>
              <a:buSzPts val="1600"/>
              <a:buFont typeface="Roboto"/>
              <a:buChar char="-"/>
            </a:pPr>
            <a:r>
              <a:rPr b="1" lang="es-PE" sz="1600">
                <a:solidFill>
                  <a:srgbClr val="0A1A3E"/>
                </a:solidFill>
                <a:latin typeface="Roboto"/>
                <a:ea typeface="Roboto"/>
                <a:cs typeface="Roboto"/>
                <a:sym typeface="Roboto"/>
              </a:rPr>
              <a:t>César Cacho</a:t>
            </a:r>
            <a:endParaRPr b="1" sz="1600">
              <a:solidFill>
                <a:srgbClr val="0A1A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A3E"/>
              </a:buClr>
              <a:buSzPts val="1600"/>
              <a:buFont typeface="Roboto"/>
              <a:buChar char="-"/>
            </a:pPr>
            <a:r>
              <a:rPr b="1" lang="es-PE" sz="1600">
                <a:solidFill>
                  <a:srgbClr val="0A1A3E"/>
                </a:solidFill>
                <a:latin typeface="Roboto"/>
                <a:ea typeface="Roboto"/>
                <a:cs typeface="Roboto"/>
                <a:sym typeface="Roboto"/>
              </a:rPr>
              <a:t>Kimberly Olivos</a:t>
            </a:r>
            <a:endParaRPr b="1" sz="1600">
              <a:solidFill>
                <a:srgbClr val="0A1A3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2201225" y="528300"/>
            <a:ext cx="30522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2048175" y="1840525"/>
            <a:ext cx="7729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PE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Contenido</a:t>
            </a:r>
            <a:r>
              <a:rPr b="0" i="0" lang="es-PE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0" i="0" sz="2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AutoNum type="arabicPeriod"/>
            </a:pPr>
            <a:r>
              <a:rPr b="0" i="0" lang="es-PE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desafío de innovación/alcance del propuesta</a:t>
            </a:r>
            <a:endParaRPr b="0" i="0" sz="2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AutoNum type="arabicPeriod"/>
            </a:pPr>
            <a:r>
              <a:rPr b="0" i="0" lang="es-PE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Propuesta de solución</a:t>
            </a:r>
            <a:endParaRPr b="0" i="0" sz="2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AutoNum type="arabicPeriod"/>
            </a:pPr>
            <a:r>
              <a:rPr b="0" i="0" lang="es-PE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prototipo </a:t>
            </a:r>
            <a:endParaRPr b="0" i="0" sz="2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AutoNum type="arabicPeriod"/>
            </a:pPr>
            <a:r>
              <a:rPr b="0" i="0" lang="es-PE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impacto esperado</a:t>
            </a:r>
            <a:endParaRPr b="0" i="0" sz="2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AutoNum type="arabicPeriod"/>
            </a:pPr>
            <a:r>
              <a:rPr b="0" i="0" lang="es-PE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viabilidad.</a:t>
            </a:r>
            <a:endParaRPr b="0" i="0" sz="2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1363200" y="639650"/>
            <a:ext cx="99933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"/>
              <a:buAutoNum type="arabicPeriod"/>
            </a:pPr>
            <a:r>
              <a:rPr b="0" i="0" lang="es-PE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Desafío de innovación / alcance de la propuesta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363200" y="1293400"/>
            <a:ext cx="963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>
                <a:solidFill>
                  <a:schemeClr val="lt1"/>
                </a:solidFill>
              </a:rPr>
              <a:t>¿Cómo podríamos ayudar a las mujeres de 30 a 65 años en situación de vulnerabilidad con sospecha de cáncer de mama y cérvix atendidas en el INEN a superar las demoras y la fragmentación del proceso diagnóstico, para lograr diagnósticos más tempranos?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1467850" y="2318100"/>
            <a:ext cx="4190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>
                <a:solidFill>
                  <a:schemeClr val="lt1"/>
                </a:solidFill>
              </a:rPr>
              <a:t>El problema, en cifras (INEN):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s-PE">
                <a:solidFill>
                  <a:schemeClr val="lt1"/>
                </a:solidFill>
              </a:rPr>
              <a:t>93.3%</a:t>
            </a:r>
            <a:r>
              <a:rPr lang="es-PE">
                <a:solidFill>
                  <a:schemeClr val="lt1"/>
                </a:solidFill>
              </a:rPr>
              <a:t> de las primeras citas tardan más de 1 día (promedio: 3 días 14 h) 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s-PE">
                <a:solidFill>
                  <a:schemeClr val="lt1"/>
                </a:solidFill>
              </a:rPr>
              <a:t>11.54 días</a:t>
            </a:r>
            <a:r>
              <a:rPr lang="es-PE">
                <a:solidFill>
                  <a:schemeClr val="lt1"/>
                </a:solidFill>
              </a:rPr>
              <a:t> promedio de atención de referencias por REFCON (hasta 20 en marzo) 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s-PE">
                <a:solidFill>
                  <a:schemeClr val="lt1"/>
                </a:solidFill>
              </a:rPr>
              <a:t>51.29% </a:t>
            </a:r>
            <a:r>
              <a:rPr lang="es-PE">
                <a:solidFill>
                  <a:schemeClr val="lt1"/>
                </a:solidFill>
              </a:rPr>
              <a:t>de casos nuevos sin estadio clínico registrado 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s-PE">
                <a:solidFill>
                  <a:schemeClr val="lt1"/>
                </a:solidFill>
              </a:rPr>
              <a:t>~30% </a:t>
            </a:r>
            <a:r>
              <a:rPr lang="es-PE">
                <a:solidFill>
                  <a:schemeClr val="lt1"/>
                </a:solidFill>
              </a:rPr>
              <a:t>se diagnostican en estadios avanzados (III–IV). 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b="1" lang="es-PE">
                <a:solidFill>
                  <a:schemeClr val="lt1"/>
                </a:solidFill>
              </a:rPr>
              <a:t>70%</a:t>
            </a:r>
            <a:r>
              <a:rPr lang="es-PE">
                <a:solidFill>
                  <a:schemeClr val="lt1"/>
                </a:solidFill>
              </a:rPr>
              <a:t> de pacientes se desplazaba repetidamente entre servicios sin orientación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6252425" y="2318100"/>
            <a:ext cx="4190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>
                <a:solidFill>
                  <a:schemeClr val="lt1"/>
                </a:solidFill>
              </a:rPr>
              <a:t>Alcance de la propuesta (qué SÍ)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s-PE">
                <a:solidFill>
                  <a:schemeClr val="lt1"/>
                </a:solidFill>
              </a:rPr>
              <a:t>Centraliza el estado del caso y los siguientes pasos. 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s-PE">
                <a:solidFill>
                  <a:schemeClr val="lt1"/>
                </a:solidFill>
              </a:rPr>
              <a:t>Recuerda y alerta citas, exámenes e hitos del proceso. 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s-PE">
                <a:solidFill>
                  <a:schemeClr val="lt1"/>
                </a:solidFill>
              </a:rPr>
              <a:t>Orienta de forma clara, inclusiva e intercultural (es/qu). 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s-PE">
                <a:solidFill>
                  <a:schemeClr val="lt1"/>
                </a:solidFill>
              </a:rPr>
              <a:t>No incluye diagnóstico por IA ni HC electrónica completa. 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s-PE">
                <a:solidFill>
                  <a:schemeClr val="lt1"/>
                </a:solidFill>
              </a:rPr>
              <a:t>Interoperabilidad progresiva sin afectar la operación clínica.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ebb5e97f29_8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ebb5e97f29_8_0"/>
          <p:cNvSpPr txBox="1"/>
          <p:nvPr/>
        </p:nvSpPr>
        <p:spPr>
          <a:xfrm>
            <a:off x="1363200" y="639650"/>
            <a:ext cx="78123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PE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Propuesta de solución</a:t>
            </a:r>
            <a:endParaRPr b="0" i="0" sz="2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g3ebb5e97f29_8_0"/>
          <p:cNvSpPr/>
          <p:nvPr/>
        </p:nvSpPr>
        <p:spPr>
          <a:xfrm>
            <a:off x="1799375" y="1950475"/>
            <a:ext cx="4492800" cy="200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PE" u="none" cap="none" strike="noStrike">
                <a:solidFill>
                  <a:srgbClr val="F61651"/>
                </a:solidFill>
                <a:latin typeface="Roboto"/>
                <a:ea typeface="Roboto"/>
                <a:cs typeface="Roboto"/>
                <a:sym typeface="Roboto"/>
              </a:rPr>
              <a:t>Descripción:</a:t>
            </a:r>
            <a:endParaRPr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Char char="●"/>
            </a:pPr>
            <a:r>
              <a:rPr lang="es-PE" sz="12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Sistema digital de navegación del paciente que acompaña a la mujer durante todo su proceso diagnóstico: traduce el flujo institucional (BPMN y 9 hitos) en una ruta clara de 7 etapas, mostrando en qué etapa está, qué sigue y qué necesita; con recordatorios, orientación intercultural y acompañamiento continuo.</a:t>
            </a:r>
            <a:endParaRPr sz="2300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g3ebb5e97f29_8_0"/>
          <p:cNvSpPr/>
          <p:nvPr/>
        </p:nvSpPr>
        <p:spPr>
          <a:xfrm>
            <a:off x="1799375" y="1226875"/>
            <a:ext cx="9110100" cy="72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PE" sz="1900">
                <a:solidFill>
                  <a:srgbClr val="0F3D3A"/>
                </a:solidFill>
                <a:latin typeface="Calibri"/>
                <a:ea typeface="Calibri"/>
                <a:cs typeface="Calibri"/>
                <a:sym typeface="Calibri"/>
              </a:rPr>
              <a:t>OncoRuta Mujer Inteligente</a:t>
            </a:r>
            <a:endParaRPr b="1" sz="2500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g3ebb5e97f29_8_0"/>
          <p:cNvSpPr/>
          <p:nvPr/>
        </p:nvSpPr>
        <p:spPr>
          <a:xfrm>
            <a:off x="6292275" y="1950475"/>
            <a:ext cx="4617300" cy="200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PE">
                <a:solidFill>
                  <a:srgbClr val="F61651"/>
                </a:solidFill>
                <a:latin typeface="Roboto"/>
                <a:ea typeface="Roboto"/>
                <a:cs typeface="Roboto"/>
                <a:sym typeface="Roboto"/>
              </a:rPr>
              <a:t>Público</a:t>
            </a:r>
            <a:r>
              <a:rPr b="0" i="0" lang="es-PE" sz="2300" u="none" cap="none" strike="noStrike">
                <a:solidFill>
                  <a:srgbClr val="F6165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PE">
                <a:solidFill>
                  <a:srgbClr val="F61651"/>
                </a:solidFill>
                <a:latin typeface="Roboto"/>
                <a:ea typeface="Roboto"/>
                <a:cs typeface="Roboto"/>
                <a:sym typeface="Roboto"/>
              </a:rPr>
              <a:t>objetivo:</a:t>
            </a:r>
            <a:endParaRPr sz="2300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-PE" sz="13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Mujeres de 30–65 años en situación de vulnerabilidad </a:t>
            </a:r>
            <a:r>
              <a:rPr lang="es-PE" sz="1100">
                <a:solidFill>
                  <a:srgbClr val="556070"/>
                </a:solidFill>
                <a:latin typeface="Calibri"/>
                <a:ea typeface="Calibri"/>
                <a:cs typeface="Calibri"/>
                <a:sym typeface="Calibri"/>
              </a:rPr>
              <a:t>con sospecha de cáncer de mama o cuello uterino · INEN-Lima</a:t>
            </a:r>
            <a:r>
              <a:rPr lang="es-PE" sz="1100">
                <a:solidFill>
                  <a:schemeClr val="dk1"/>
                </a:solidFill>
              </a:rPr>
              <a:t> </a:t>
            </a:r>
            <a:endParaRPr sz="2300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g3ebb5e97f29_8_0"/>
          <p:cNvSpPr/>
          <p:nvPr/>
        </p:nvSpPr>
        <p:spPr>
          <a:xfrm>
            <a:off x="1799475" y="3952075"/>
            <a:ext cx="4492800" cy="192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PE" sz="1600" u="none" cap="none" strike="noStrike">
                <a:solidFill>
                  <a:srgbClr val="F61651"/>
                </a:solidFill>
                <a:latin typeface="Roboto"/>
                <a:ea typeface="Roboto"/>
                <a:cs typeface="Roboto"/>
                <a:sym typeface="Roboto"/>
              </a:rPr>
              <a:t>Beneficios y atributos:</a:t>
            </a:r>
            <a:endParaRPr b="0" i="0" sz="1600" u="none" cap="none" strike="noStrike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PE" sz="1100">
                <a:solidFill>
                  <a:srgbClr val="14746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PE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Reduce demoras, viajes y trámites innecesarios</a:t>
            </a:r>
            <a:endParaRPr sz="11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PE" sz="1100">
                <a:solidFill>
                  <a:srgbClr val="14746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PE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Disminuye la incertidumbre y la ansiedad</a:t>
            </a:r>
            <a:endParaRPr sz="11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PE" sz="1100">
                <a:solidFill>
                  <a:srgbClr val="14746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PE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Accesible: español/quechua, lectura en voz alta, texto grande</a:t>
            </a:r>
            <a:endParaRPr sz="11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PE" sz="1100">
                <a:solidFill>
                  <a:srgbClr val="14746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PE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Acceso para cuidadora/familiar autorizado</a:t>
            </a:r>
            <a:endParaRPr sz="11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PE" sz="1100">
                <a:solidFill>
                  <a:srgbClr val="14746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PE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Red de apoyo (Club de la Mama) integrada</a:t>
            </a:r>
            <a:endParaRPr sz="11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PE" sz="1100">
                <a:solidFill>
                  <a:srgbClr val="14746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PE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Panel institucional con priorización de casos vulnerables</a:t>
            </a:r>
            <a:endParaRPr b="0" i="0" sz="2200" u="none" cap="none" strike="noStrike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g3ebb5e97f29_8_0"/>
          <p:cNvSpPr/>
          <p:nvPr/>
        </p:nvSpPr>
        <p:spPr>
          <a:xfrm>
            <a:off x="6292275" y="3952050"/>
            <a:ext cx="4617300" cy="192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PE" sz="1600">
                <a:solidFill>
                  <a:srgbClr val="F61651"/>
                </a:solidFill>
                <a:latin typeface="Roboto"/>
                <a:ea typeface="Roboto"/>
                <a:cs typeface="Roboto"/>
                <a:sym typeface="Roboto"/>
              </a:rPr>
              <a:t>Actores involucrados en la solución</a:t>
            </a:r>
            <a:endParaRPr sz="1600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PE" sz="1200">
                <a:solidFill>
                  <a:srgbClr val="14746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s-PE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Paciente y cuidador/familiar</a:t>
            </a:r>
            <a:r>
              <a:rPr lang="es-PE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— usuarios principales</a:t>
            </a:r>
            <a:endParaRPr sz="12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PE" sz="1200">
                <a:solidFill>
                  <a:srgbClr val="14746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s-PE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INEN – Oficina de Informática</a:t>
            </a:r>
            <a:r>
              <a:rPr lang="es-PE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— liderazgo y producto</a:t>
            </a:r>
            <a:endParaRPr sz="12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PE" sz="1200">
                <a:solidFill>
                  <a:srgbClr val="14746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s-PE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Personal clínico y administrativo</a:t>
            </a:r>
            <a:r>
              <a:rPr lang="es-PE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— admisión, citas, exámenes</a:t>
            </a:r>
            <a:endParaRPr sz="12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PE" sz="1200">
                <a:solidFill>
                  <a:srgbClr val="14746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s-PE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Club de la Mama</a:t>
            </a:r>
            <a:r>
              <a:rPr lang="es-PE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— validación y soporte de pares</a:t>
            </a:r>
            <a:endParaRPr sz="12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PE" sz="1200">
                <a:solidFill>
                  <a:srgbClr val="14746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s-PE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IAFAS / IPRESS</a:t>
            </a:r>
            <a:r>
              <a:rPr lang="es-PE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— referencias (REFCON)</a:t>
            </a:r>
            <a:endParaRPr sz="12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PE" sz="1200">
                <a:solidFill>
                  <a:srgbClr val="14746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s-PE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PCM / MINSA</a:t>
            </a:r>
            <a:r>
              <a:rPr lang="es-PE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— gobierno digital y normativa</a:t>
            </a:r>
            <a:endParaRPr b="0" i="0" sz="2300" u="none" cap="none" strike="noStrike">
              <a:solidFill>
                <a:srgbClr val="F6165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ed769d63d2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ed769d63d2_0_6"/>
          <p:cNvSpPr txBox="1"/>
          <p:nvPr/>
        </p:nvSpPr>
        <p:spPr>
          <a:xfrm>
            <a:off x="728875" y="352400"/>
            <a:ext cx="99933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PE" sz="2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3. Prototipo</a:t>
            </a:r>
            <a:endParaRPr b="0" i="0" sz="2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9" name="Google Shape;119;g3ed769d63d2_0_6"/>
          <p:cNvPicPr preferRelativeResize="0"/>
          <p:nvPr/>
        </p:nvPicPr>
        <p:blipFill rotWithShape="1">
          <a:blip r:embed="rId4">
            <a:alphaModFix/>
          </a:blip>
          <a:srcRect b="0" l="1068" r="0" t="1205"/>
          <a:stretch/>
        </p:blipFill>
        <p:spPr>
          <a:xfrm>
            <a:off x="1447000" y="1076000"/>
            <a:ext cx="3234951" cy="222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ed769d63d2_0_6"/>
          <p:cNvSpPr txBox="1"/>
          <p:nvPr/>
        </p:nvSpPr>
        <p:spPr>
          <a:xfrm>
            <a:off x="1229950" y="3305800"/>
            <a:ext cx="357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Inicio de sesión por rol (con cuentas demo)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" name="Google Shape;121;g3ed769d63d2_0_6"/>
          <p:cNvPicPr preferRelativeResize="0"/>
          <p:nvPr/>
        </p:nvPicPr>
        <p:blipFill rotWithShape="1">
          <a:blip r:embed="rId5">
            <a:alphaModFix/>
          </a:blip>
          <a:srcRect b="0" l="0" r="0" t="8316"/>
          <a:stretch/>
        </p:blipFill>
        <p:spPr>
          <a:xfrm>
            <a:off x="7051738" y="1010988"/>
            <a:ext cx="3523367" cy="222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ed769d63d2_0_6"/>
          <p:cNvSpPr txBox="1"/>
          <p:nvPr/>
        </p:nvSpPr>
        <p:spPr>
          <a:xfrm>
            <a:off x="7026763" y="3240788"/>
            <a:ext cx="3573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Inicio: estado del caso + 'tu siguiente paso'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" name="Google Shape;123;g3ed769d63d2_0_6"/>
          <p:cNvPicPr preferRelativeResize="0"/>
          <p:nvPr/>
        </p:nvPicPr>
        <p:blipFill rotWithShape="1">
          <a:blip r:embed="rId6">
            <a:alphaModFix/>
          </a:blip>
          <a:srcRect b="0" l="0" r="0" t="8291"/>
          <a:stretch/>
        </p:blipFill>
        <p:spPr>
          <a:xfrm>
            <a:off x="1556163" y="3724800"/>
            <a:ext cx="3016625" cy="19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ed769d63d2_0_6"/>
          <p:cNvSpPr txBox="1"/>
          <p:nvPr/>
        </p:nvSpPr>
        <p:spPr>
          <a:xfrm>
            <a:off x="1334475" y="5634375"/>
            <a:ext cx="3573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 ruta diagnóstica (línea de tiempo de 7 etapas)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g3ed769d63d2_0_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30200" y="3659788"/>
            <a:ext cx="2766441" cy="19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ed769d63d2_0_6"/>
          <p:cNvSpPr txBox="1"/>
          <p:nvPr/>
        </p:nvSpPr>
        <p:spPr>
          <a:xfrm>
            <a:off x="7026775" y="5634363"/>
            <a:ext cx="3573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Mis citas: recordatorios y confirmación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g3ed769d63d2_0_6"/>
          <p:cNvCxnSpPr/>
          <p:nvPr/>
        </p:nvCxnSpPr>
        <p:spPr>
          <a:xfrm>
            <a:off x="5171575" y="2061150"/>
            <a:ext cx="13047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g3ed769d63d2_0_6"/>
          <p:cNvCxnSpPr/>
          <p:nvPr/>
        </p:nvCxnSpPr>
        <p:spPr>
          <a:xfrm flipH="1">
            <a:off x="5339075" y="2958800"/>
            <a:ext cx="1173000" cy="11010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g3ed769d63d2_0_6"/>
          <p:cNvCxnSpPr/>
          <p:nvPr/>
        </p:nvCxnSpPr>
        <p:spPr>
          <a:xfrm flipH="1" rot="10800000">
            <a:off x="5446875" y="4562525"/>
            <a:ext cx="1268700" cy="240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ebb5e97f29_9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ebb5e97f29_9_3"/>
          <p:cNvSpPr txBox="1"/>
          <p:nvPr/>
        </p:nvSpPr>
        <p:spPr>
          <a:xfrm>
            <a:off x="1363200" y="639650"/>
            <a:ext cx="47607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PE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Impacto esperado</a:t>
            </a:r>
            <a:endParaRPr b="0" i="0" sz="2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g3ebb5e97f29_9_3"/>
          <p:cNvSpPr txBox="1"/>
          <p:nvPr/>
        </p:nvSpPr>
        <p:spPr>
          <a:xfrm>
            <a:off x="1528000" y="2829450"/>
            <a:ext cx="4190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>
                <a:solidFill>
                  <a:schemeClr val="dk1"/>
                </a:solidFill>
              </a:rPr>
              <a:t>Impacto en las personas y en la institución: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PE">
                <a:solidFill>
                  <a:schemeClr val="dk1"/>
                </a:solidFill>
              </a:rPr>
              <a:t>Diagnóstico más temprano → mejores probabilidades de tratamiento oportuno.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PE">
                <a:solidFill>
                  <a:schemeClr val="dk1"/>
                </a:solidFill>
              </a:rPr>
              <a:t>Menos ansiedad e incertidumbre (insight central del trabajo de campo).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PE">
                <a:solidFill>
                  <a:schemeClr val="dk1"/>
                </a:solidFill>
              </a:rPr>
              <a:t>Equidad para jefas de hogar, mujeres con discapacidad e interculturales.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PE">
                <a:solidFill>
                  <a:schemeClr val="dk1"/>
                </a:solidFill>
              </a:rPr>
              <a:t>Ahorro familiar en transporte, alojamiento y días de trabajo.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g3ebb5e97f29_9_3"/>
          <p:cNvSpPr txBox="1"/>
          <p:nvPr/>
        </p:nvSpPr>
        <p:spPr>
          <a:xfrm>
            <a:off x="6184050" y="3044850"/>
            <a:ext cx="4190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PE">
                <a:solidFill>
                  <a:schemeClr val="dk1"/>
                </a:solidFill>
              </a:rPr>
              <a:t>Continuidad asistencial y menor pérdida de seguimiento.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PE">
                <a:solidFill>
                  <a:schemeClr val="dk1"/>
                </a:solidFill>
              </a:rPr>
              <a:t>Descongestión de ventanillas y trámites presenciales.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PE">
                <a:solidFill>
                  <a:schemeClr val="dk1"/>
                </a:solidFill>
              </a:rPr>
              <a:t>Decisiones basadas en datos (panel institucional).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PE">
                <a:solidFill>
                  <a:schemeClr val="dk1"/>
                </a:solidFill>
              </a:rPr>
              <a:t>Alineado a la Ley Nacional del Cáncer y la Política de Salud al 2030.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g3ebb5e97f29_9_3"/>
          <p:cNvSpPr/>
          <p:nvPr/>
        </p:nvSpPr>
        <p:spPr>
          <a:xfrm>
            <a:off x="1587450" y="1363250"/>
            <a:ext cx="2023800" cy="1259700"/>
          </a:xfrm>
          <a:prstGeom prst="rect">
            <a:avLst/>
          </a:prstGeom>
          <a:solidFill>
            <a:srgbClr val="3E269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-40%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tiempo de programación de 1.ª cita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ebb5e97f29_9_3"/>
          <p:cNvSpPr/>
          <p:nvPr/>
        </p:nvSpPr>
        <p:spPr>
          <a:xfrm>
            <a:off x="3918550" y="1363250"/>
            <a:ext cx="2023800" cy="1259700"/>
          </a:xfrm>
          <a:prstGeom prst="rect">
            <a:avLst/>
          </a:prstGeom>
          <a:solidFill>
            <a:srgbClr val="3E269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≤60%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citas que tardan +1 día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(desde 93.3%)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ebb5e97f29_9_3"/>
          <p:cNvSpPr/>
          <p:nvPr/>
        </p:nvSpPr>
        <p:spPr>
          <a:xfrm>
            <a:off x="6249650" y="1363250"/>
            <a:ext cx="2023800" cy="1259700"/>
          </a:xfrm>
          <a:prstGeom prst="rect">
            <a:avLst/>
          </a:prstGeom>
          <a:solidFill>
            <a:srgbClr val="3E269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+25pp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casos con estadio clínico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registrado a tiempo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ebb5e97f29_9_3"/>
          <p:cNvSpPr/>
          <p:nvPr/>
        </p:nvSpPr>
        <p:spPr>
          <a:xfrm>
            <a:off x="8580750" y="1363250"/>
            <a:ext cx="2023800" cy="1259700"/>
          </a:xfrm>
          <a:prstGeom prst="rect">
            <a:avLst/>
          </a:prstGeom>
          <a:solidFill>
            <a:srgbClr val="3E269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-40%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viajes/desplazamientos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evitables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ebb5e97f29_9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ebb5e97f29_9_8"/>
          <p:cNvSpPr txBox="1"/>
          <p:nvPr/>
        </p:nvSpPr>
        <p:spPr>
          <a:xfrm>
            <a:off x="1363200" y="639650"/>
            <a:ext cx="99933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PE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5. Viabilidad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g3ebb5e97f29_9_8"/>
          <p:cNvSpPr txBox="1"/>
          <p:nvPr/>
        </p:nvSpPr>
        <p:spPr>
          <a:xfrm>
            <a:off x="1205000" y="1502100"/>
            <a:ext cx="3297300" cy="38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PE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Tecnológica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-"/>
            </a:pPr>
            <a:r>
              <a:rPr lang="es-PE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Prototipo funcional ya construido (web sin dependencias)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-"/>
            </a:pPr>
            <a:r>
              <a:rPr lang="es-PE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Arquitectura desacoplada: el backend real solo cambia 1 capa 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-"/>
            </a:pPr>
            <a:r>
              <a:rPr lang="es-PE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Interoperabilidad progresiva con SISINEN y REFCON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-"/>
            </a:pPr>
            <a:r>
              <a:rPr lang="es-PE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Ligera y accesible (apta para conectividad limitada)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g3ebb5e97f29_9_8"/>
          <p:cNvSpPr txBox="1"/>
          <p:nvPr/>
        </p:nvSpPr>
        <p:spPr>
          <a:xfrm>
            <a:off x="4711200" y="1502100"/>
            <a:ext cx="3297300" cy="38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PE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Logística / operativa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-"/>
            </a:pPr>
            <a:r>
              <a:rPr lang="es-PE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Liderazgo de la Oficina de Informática del INEN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-"/>
            </a:pPr>
            <a:r>
              <a:rPr lang="es-PE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Compromiso post-hackatón: incubación y pilotaje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-"/>
            </a:pPr>
            <a:r>
              <a:rPr lang="es-PE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Validación con el Club de la Mama y mentores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-"/>
            </a:pPr>
            <a:r>
              <a:rPr lang="es-PE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 monta sobre el flujo actual sin interrumpirlo 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g3ebb5e97f29_9_8"/>
          <p:cNvSpPr txBox="1"/>
          <p:nvPr/>
        </p:nvSpPr>
        <p:spPr>
          <a:xfrm>
            <a:off x="8217400" y="1502100"/>
            <a:ext cx="3297300" cy="38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PE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Logística / operativa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-"/>
            </a:pPr>
            <a:r>
              <a:rPr lang="es-PE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Cumple Ley 29733, Ley General de Salud y D. L. 1412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-"/>
            </a:pPr>
            <a:r>
              <a:rPr lang="es-PE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Sin HC reales en la hackatón; consentimiento en piloto 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-"/>
            </a:pPr>
            <a:r>
              <a:rPr lang="es-PE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Bajo costo: sin licencias ni infraestructura de gran escala 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-"/>
            </a:pPr>
            <a:r>
              <a:rPr lang="es-PE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Sostenibilidad: presupuesto institucional + cooperación 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4"/>
          <p:cNvSpPr txBox="1"/>
          <p:nvPr>
            <p:ph idx="1" type="subTitle"/>
          </p:nvPr>
        </p:nvSpPr>
        <p:spPr>
          <a:xfrm>
            <a:off x="686168" y="2601119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A3E"/>
              </a:buClr>
              <a:buSzPts val="2400"/>
              <a:buNone/>
            </a:pPr>
            <a:r>
              <a:rPr b="1" lang="es-PE">
                <a:solidFill>
                  <a:srgbClr val="0A1A3E"/>
                </a:solidFill>
                <a:latin typeface="Roboto"/>
                <a:ea typeface="Roboto"/>
                <a:cs typeface="Roboto"/>
                <a:sym typeface="Roboto"/>
              </a:rPr>
              <a:t>Agradecimientos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A3E"/>
              </a:buClr>
              <a:buSzPts val="1600"/>
              <a:buNone/>
            </a:pPr>
            <a:r>
              <a:rPr lang="es-PE" sz="1600">
                <a:solidFill>
                  <a:srgbClr val="0A1A3E"/>
                </a:solidFill>
                <a:latin typeface="Roboto"/>
                <a:ea typeface="Roboto"/>
                <a:cs typeface="Roboto"/>
                <a:sym typeface="Roboto"/>
              </a:rPr>
              <a:t>Contacto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2026-05-26T23:51:25Z</dcterms:created>
  <dc:creator>yodiegoandres@gmail.com</dc:creator>
</cp:coreProperties>
</file>